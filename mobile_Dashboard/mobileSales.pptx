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18288000" cy="10287000"/>
  <p:notesSz cx="6858000" cy="9144000"/>
  <p:embeddedFontLst>
    <p:embeddedFont>
      <p:font typeface="TT Firs Neue" panose="020B0604020202020204" charset="0"/>
      <p:regular r:id="rId14"/>
    </p:embeddedFont>
    <p:embeddedFont>
      <p:font typeface="TT Firs Neue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566408" y="7565408"/>
            <a:ext cx="1692892" cy="1692892"/>
          </a:xfrm>
          <a:custGeom>
            <a:avLst/>
            <a:gdLst/>
            <a:ahLst/>
            <a:cxnLst/>
            <a:rect l="l" t="t" r="r" b="b"/>
            <a:pathLst>
              <a:path w="1692892" h="1692892">
                <a:moveTo>
                  <a:pt x="0" y="0"/>
                </a:moveTo>
                <a:lnTo>
                  <a:pt x="1692892" y="0"/>
                </a:lnTo>
                <a:lnTo>
                  <a:pt x="1692892" y="1692892"/>
                </a:lnTo>
                <a:lnTo>
                  <a:pt x="0" y="1692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88593" y="2047230"/>
            <a:ext cx="16033938" cy="124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27"/>
              </a:lnSpc>
              <a:spcBef>
                <a:spcPct val="0"/>
              </a:spcBef>
            </a:pPr>
            <a:r>
              <a:rPr lang="en-US" sz="8894" b="1" dirty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MOBILE SALES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3999" y="2974324"/>
            <a:ext cx="16195301" cy="2634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70"/>
              </a:lnSpc>
            </a:pPr>
            <a:r>
              <a:rPr lang="en-US" sz="18934" b="1" dirty="0">
                <a:solidFill>
                  <a:srgbClr val="FFDE59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DASHBOARD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5502" y="5221532"/>
            <a:ext cx="15876996" cy="48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sz="3439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Interaction Sales Analysis Using Microsoft Power BI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0DC8E0-954E-F609-D13D-60DBC58B7E74}"/>
              </a:ext>
            </a:extLst>
          </p:cNvPr>
          <p:cNvSpPr txBox="1"/>
          <p:nvPr/>
        </p:nvSpPr>
        <p:spPr>
          <a:xfrm>
            <a:off x="1066800" y="6241937"/>
            <a:ext cx="55762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bg2"/>
                </a:solidFill>
                <a:latin typeface="TT Firs Neue" panose="020B0604020202020204" charset="0"/>
              </a:rPr>
              <a:t>Tool: </a:t>
            </a:r>
            <a:r>
              <a:rPr lang="en-IN" sz="3400" dirty="0">
                <a:solidFill>
                  <a:schemeClr val="bg2"/>
                </a:solidFill>
                <a:latin typeface="TT Firs Neue" panose="020B0604020202020204" charset="0"/>
              </a:rPr>
              <a:t>Microsoft Power BI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9CA990-3E3C-1578-D936-720441251922}"/>
              </a:ext>
            </a:extLst>
          </p:cNvPr>
          <p:cNvSpPr txBox="1"/>
          <p:nvPr/>
        </p:nvSpPr>
        <p:spPr>
          <a:xfrm>
            <a:off x="1143000" y="7249029"/>
            <a:ext cx="92338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solidFill>
                  <a:schemeClr val="bg2"/>
                </a:solidFill>
                <a:latin typeface="TT Firs Neue" panose="020B0604020202020204" charset="0"/>
              </a:rPr>
              <a:t>Technology:</a:t>
            </a:r>
            <a:r>
              <a:rPr lang="en-IN" sz="3400" dirty="0">
                <a:solidFill>
                  <a:schemeClr val="bg2"/>
                </a:solidFill>
                <a:latin typeface="TT Firs Neue" panose="020B0604020202020204" charset="0"/>
              </a:rPr>
              <a:t> Power BI, DAX, Data </a:t>
            </a:r>
            <a:r>
              <a:rPr lang="en-IN" sz="3400" dirty="0" err="1">
                <a:solidFill>
                  <a:schemeClr val="bg2"/>
                </a:solidFill>
                <a:latin typeface="TT Firs Neue" panose="020B0604020202020204" charset="0"/>
              </a:rPr>
              <a:t>Modeling</a:t>
            </a:r>
            <a:endParaRPr lang="en-IN" sz="3400" dirty="0">
              <a:solidFill>
                <a:schemeClr val="bg2"/>
              </a:solidFill>
              <a:latin typeface="TT Firs Neue" panose="020B060402020202020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79635A-EF86-FCF8-5C39-24B0FB5B7CD4}"/>
              </a:ext>
            </a:extLst>
          </p:cNvPr>
          <p:cNvSpPr txBox="1"/>
          <p:nvPr/>
        </p:nvSpPr>
        <p:spPr>
          <a:xfrm>
            <a:off x="1143000" y="8790931"/>
            <a:ext cx="6096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bg2"/>
                </a:solidFill>
                <a:latin typeface="TT Firs Neue" panose="020B0604020202020204" charset="0"/>
              </a:rPr>
              <a:t>Presented By: Ashish Kumar</a:t>
            </a:r>
            <a:endParaRPr lang="en-IN" sz="3400" dirty="0">
              <a:solidFill>
                <a:schemeClr val="bg2"/>
              </a:solidFill>
              <a:latin typeface="TT Firs Neue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7883963" cy="8229600"/>
            <a:chOff x="0" y="0"/>
            <a:chExt cx="20764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75337" y="1028700"/>
            <a:ext cx="7883963" cy="8229600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97530" y="1728732"/>
            <a:ext cx="6074870" cy="782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7721" y="3086685"/>
            <a:ext cx="7179262" cy="4233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629" lvl="1" indent="-371315"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The Mobile Sales Dashboard is an interactive Business Intelligence (BI) project.</a:t>
            </a:r>
          </a:p>
          <a:p>
            <a:pPr marL="371314" lvl="1"/>
            <a:endParaRPr lang="en-US" sz="3439" dirty="0">
              <a:solidFill>
                <a:srgbClr val="0E1916"/>
              </a:solidFill>
              <a:latin typeface="TT Firs Neue"/>
              <a:sym typeface="TT Firs Neue"/>
            </a:endParaRPr>
          </a:p>
          <a:p>
            <a:pPr marL="742629" lvl="1" indent="-371315"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It </a:t>
            </a:r>
            <a:r>
              <a:rPr lang="en-IN" sz="3439" dirty="0" err="1">
                <a:solidFill>
                  <a:srgbClr val="0E1916"/>
                </a:solidFill>
                <a:latin typeface="TT Firs Neue"/>
              </a:rPr>
              <a:t>analyzes</a:t>
            </a:r>
            <a:r>
              <a:rPr lang="en-IN" sz="3439" dirty="0">
                <a:solidFill>
                  <a:srgbClr val="0E1916"/>
                </a:solidFill>
                <a:latin typeface="TT Firs Neue"/>
              </a:rPr>
              <a:t> mobile sales transaction data from 01 January 2021 to 31 December 2024.</a:t>
            </a:r>
            <a:endParaRPr lang="en-US" sz="3439" dirty="0">
              <a:solidFill>
                <a:srgbClr val="0E1916"/>
              </a:solidFill>
              <a:latin typeface="TT Firs Neue"/>
              <a:sym typeface="TT Firs Neue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367738" y="9533187"/>
            <a:ext cx="418610" cy="41861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34695" y="9533187"/>
            <a:ext cx="418610" cy="4186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01652" y="9533187"/>
            <a:ext cx="418610" cy="4186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3" name="TextBox 11">
            <a:extLst>
              <a:ext uri="{FF2B5EF4-FFF2-40B4-BE49-F238E27FC236}">
                <a16:creationId xmlns:a16="http://schemas.microsoft.com/office/drawing/2014/main" id="{2F3F0283-3D01-BEDF-8002-7E172ACB9DEF}"/>
              </a:ext>
            </a:extLst>
          </p:cNvPr>
          <p:cNvSpPr txBox="1"/>
          <p:nvPr/>
        </p:nvSpPr>
        <p:spPr>
          <a:xfrm>
            <a:off x="9176084" y="1728732"/>
            <a:ext cx="7179262" cy="589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629" lvl="1" indent="-371315"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The dashboard converts raw sales data into meaningful KPIs and visual reports.</a:t>
            </a:r>
          </a:p>
          <a:p>
            <a:pPr marL="371314" lvl="1"/>
            <a:endParaRPr lang="en-US" sz="3439" dirty="0">
              <a:solidFill>
                <a:srgbClr val="0E1916"/>
              </a:solidFill>
              <a:latin typeface="TT Firs Neue"/>
              <a:sym typeface="TT Firs Neue"/>
            </a:endParaRPr>
          </a:p>
          <a:p>
            <a:pPr marL="742629" lvl="1" indent="-371315"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Users can </a:t>
            </a:r>
            <a:r>
              <a:rPr lang="en-IN" sz="3439" dirty="0" err="1">
                <a:solidFill>
                  <a:srgbClr val="0E1916"/>
                </a:solidFill>
                <a:latin typeface="TT Firs Neue"/>
              </a:rPr>
              <a:t>analyze</a:t>
            </a:r>
            <a:r>
              <a:rPr lang="en-IN" sz="3439" dirty="0">
                <a:solidFill>
                  <a:srgbClr val="0E1916"/>
                </a:solidFill>
                <a:latin typeface="TT Firs Neue"/>
              </a:rPr>
              <a:t> sales based on time, mobile model, brand, payment method and city.</a:t>
            </a:r>
          </a:p>
          <a:p>
            <a:pPr marL="371314" lvl="1">
              <a:spcBef>
                <a:spcPct val="0"/>
              </a:spcBef>
            </a:pPr>
            <a:endParaRPr lang="en-IN" sz="3439" dirty="0">
              <a:solidFill>
                <a:srgbClr val="0E1916"/>
              </a:solidFill>
              <a:latin typeface="TT Firs Neue"/>
            </a:endParaRPr>
          </a:p>
          <a:p>
            <a:pPr marL="742629" lvl="1" indent="-371315">
              <a:spcBef>
                <a:spcPct val="0"/>
              </a:spcBef>
              <a:buFont typeface="Arial"/>
              <a:buChar char="•"/>
            </a:pPr>
            <a:r>
              <a:rPr lang="en-IN" sz="3600" dirty="0"/>
              <a:t>DAX measures are used for calculations and time-based analysis.</a:t>
            </a:r>
            <a:endParaRPr lang="en-US" sz="3439" dirty="0">
              <a:solidFill>
                <a:srgbClr val="0E1916"/>
              </a:solidFill>
              <a:latin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7883963" cy="8229600"/>
            <a:chOff x="0" y="0"/>
            <a:chExt cx="20764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75337" y="1028700"/>
            <a:ext cx="7883963" cy="8229600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97530" y="1728732"/>
            <a:ext cx="6074870" cy="1539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8476" y="3543143"/>
            <a:ext cx="7179262" cy="534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629" lvl="1" indent="-371315"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Raw sales data is difficult to </a:t>
            </a:r>
            <a:r>
              <a:rPr lang="en-IN" sz="3439" dirty="0" err="1">
                <a:solidFill>
                  <a:srgbClr val="0E1916"/>
                </a:solidFill>
                <a:latin typeface="TT Firs Neue"/>
              </a:rPr>
              <a:t>analyze</a:t>
            </a:r>
            <a:r>
              <a:rPr lang="en-IN" sz="3439" dirty="0">
                <a:solidFill>
                  <a:srgbClr val="0E1916"/>
                </a:solidFill>
                <a:latin typeface="TT Firs Neue"/>
              </a:rPr>
              <a:t> manually due to the large number of transaction records.</a:t>
            </a:r>
          </a:p>
          <a:p>
            <a:pPr marL="742629" lvl="1" indent="-371315"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Sales trends and performance are difficult to identify across different dates, cities, brands, and mobile models.</a:t>
            </a:r>
            <a:endParaRPr lang="en-US" sz="3439" dirty="0">
              <a:solidFill>
                <a:srgbClr val="0E1916"/>
              </a:solidFill>
              <a:latin typeface="TT Firs Neue"/>
              <a:sym typeface="TT Firs Neue"/>
            </a:endParaRPr>
          </a:p>
          <a:p>
            <a:pPr marL="742629" lvl="1" indent="-371315"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An interactive dashboard is needed</a:t>
            </a:r>
            <a:r>
              <a:rPr lang="en-US" sz="3439" dirty="0">
                <a:solidFill>
                  <a:srgbClr val="0E1916"/>
                </a:solidFill>
                <a:latin typeface="TT Firs Neue"/>
                <a:sym typeface="TT Firs Neue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367738" y="9533187"/>
            <a:ext cx="418610" cy="41861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34695" y="9533187"/>
            <a:ext cx="418610" cy="4186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01652" y="9533187"/>
            <a:ext cx="418610" cy="4186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6B65E73-CC31-2D5C-D02D-B29ED2FAC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492" y="1137196"/>
            <a:ext cx="7518031" cy="80607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7883963" cy="8229600"/>
            <a:chOff x="0" y="0"/>
            <a:chExt cx="20764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75337" y="1028700"/>
            <a:ext cx="7883963" cy="8229600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97530" y="1728732"/>
            <a:ext cx="5696843" cy="153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0777" y="3610005"/>
            <a:ext cx="7515056" cy="317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Monitor overall Total Sales.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Track Total Quantity and Transactions.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 err="1">
                <a:solidFill>
                  <a:srgbClr val="0E1916"/>
                </a:solidFill>
                <a:latin typeface="TT Firs Neue"/>
              </a:rPr>
              <a:t>Analyze</a:t>
            </a:r>
            <a:r>
              <a:rPr lang="en-IN" sz="3439" dirty="0">
                <a:solidFill>
                  <a:srgbClr val="0E1916"/>
                </a:solidFill>
                <a:latin typeface="TT Firs Neue"/>
              </a:rPr>
              <a:t> Average Price.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Identify sales trends by Year, Quarter, Month and Day.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367738" y="9533187"/>
            <a:ext cx="418610" cy="41861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34695" y="9533187"/>
            <a:ext cx="418610" cy="4186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01652" y="9533187"/>
            <a:ext cx="418610" cy="4186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5F618CE-65FF-D9C6-F7A1-062FB1A0E848}"/>
              </a:ext>
            </a:extLst>
          </p:cNvPr>
          <p:cNvSpPr txBox="1"/>
          <p:nvPr/>
        </p:nvSpPr>
        <p:spPr>
          <a:xfrm>
            <a:off x="9710957" y="3390900"/>
            <a:ext cx="7236266" cy="379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 err="1">
                <a:solidFill>
                  <a:srgbClr val="0E1916"/>
                </a:solidFill>
                <a:latin typeface="TT Firs Neue"/>
              </a:rPr>
              <a:t>Analyze</a:t>
            </a:r>
            <a:r>
              <a:rPr lang="en-IN" sz="3439" dirty="0">
                <a:solidFill>
                  <a:srgbClr val="0E1916"/>
                </a:solidFill>
                <a:latin typeface="TT Firs Neue"/>
              </a:rPr>
              <a:t> sales performance across different cities.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Compare current performance with the same period of the previous year.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Provide interactive filtering for better analysis.</a:t>
            </a:r>
            <a:r>
              <a:rPr lang="en-US" sz="3439" dirty="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7883963" cy="8229600"/>
            <a:chOff x="0" y="0"/>
            <a:chExt cx="20764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75337" y="1028700"/>
            <a:ext cx="7883963" cy="8229600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97530" y="1728732"/>
            <a:ext cx="6847480" cy="153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PREPARATION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9647" y="3889871"/>
            <a:ext cx="7179262" cy="324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Checked data types and missing values. 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Prepared date fields for time-based analysis. 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Connected the sales data with a dedicated calendar table.</a:t>
            </a:r>
          </a:p>
          <a:p>
            <a:pPr algn="l">
              <a:lnSpc>
                <a:spcPts val="3646"/>
              </a:lnSpc>
            </a:pPr>
            <a:endParaRPr lang="en-US" sz="3439" dirty="0">
              <a:solidFill>
                <a:srgbClr val="0E1916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367738" y="9533187"/>
            <a:ext cx="418610" cy="41861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34695" y="9533187"/>
            <a:ext cx="418610" cy="4186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01652" y="9533187"/>
            <a:ext cx="418610" cy="4186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3" name="TextBox 9">
            <a:extLst>
              <a:ext uri="{FF2B5EF4-FFF2-40B4-BE49-F238E27FC236}">
                <a16:creationId xmlns:a16="http://schemas.microsoft.com/office/drawing/2014/main" id="{C5175A2F-5548-E0E9-D8D3-0DF25C893D69}"/>
              </a:ext>
            </a:extLst>
          </p:cNvPr>
          <p:cNvSpPr txBox="1"/>
          <p:nvPr/>
        </p:nvSpPr>
        <p:spPr>
          <a:xfrm>
            <a:off x="9941363" y="1409700"/>
            <a:ext cx="6847480" cy="72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Important Fields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9030AB5D-098F-51CB-B381-8A7A65BFC6BD}"/>
              </a:ext>
            </a:extLst>
          </p:cNvPr>
          <p:cNvSpPr txBox="1"/>
          <p:nvPr/>
        </p:nvSpPr>
        <p:spPr>
          <a:xfrm>
            <a:off x="9379124" y="2857500"/>
            <a:ext cx="7179262" cy="601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Transaction ID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Date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City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Mobile Model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Brand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Customer Age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Customer Name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Payment Method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Price Per Unit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Total Sales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Total Quantity</a:t>
            </a:r>
          </a:p>
          <a:p>
            <a:pPr marL="742629" lvl="1" indent="-371315">
              <a:lnSpc>
                <a:spcPts val="3646"/>
              </a:lnSpc>
              <a:spcBef>
                <a:spcPct val="0"/>
              </a:spcBef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Average Price</a:t>
            </a:r>
          </a:p>
          <a:p>
            <a:pPr algn="l">
              <a:lnSpc>
                <a:spcPts val="3646"/>
              </a:lnSpc>
            </a:pPr>
            <a:endParaRPr lang="en-US" sz="3439" dirty="0">
              <a:solidFill>
                <a:srgbClr val="0E1916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7883963" cy="8229600"/>
            <a:chOff x="0" y="0"/>
            <a:chExt cx="20764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75337" y="1028700"/>
            <a:ext cx="7883963" cy="8229600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97530" y="1728732"/>
            <a:ext cx="6254706" cy="78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DAX MEASURES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65590" y="3434551"/>
            <a:ext cx="5843141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IN" sz="3400" b="1" u="sng" dirty="0">
                <a:solidFill>
                  <a:srgbClr val="799F8F"/>
                </a:solidFill>
                <a:latin typeface="TT Firs Neue Bold"/>
              </a:rPr>
              <a:t>SUMX(</a:t>
            </a:r>
            <a:r>
              <a:rPr lang="en-IN" sz="3400" b="1" u="sng" dirty="0" err="1">
                <a:solidFill>
                  <a:srgbClr val="799F8F"/>
                </a:solidFill>
                <a:latin typeface="TT Firs Neue Bold"/>
              </a:rPr>
              <a:t>Mobile_Sales_Data,Mobile_Sales_Data</a:t>
            </a:r>
            <a:r>
              <a:rPr lang="en-IN" sz="3400" b="1" u="sng" dirty="0">
                <a:solidFill>
                  <a:srgbClr val="799F8F"/>
                </a:solidFill>
                <a:latin typeface="TT Firs Neue Bold"/>
              </a:rPr>
              <a:t>[Units Sold]*</a:t>
            </a:r>
            <a:r>
              <a:rPr lang="en-IN" sz="3400" b="1" u="sng" dirty="0" err="1">
                <a:solidFill>
                  <a:srgbClr val="799F8F"/>
                </a:solidFill>
                <a:latin typeface="TT Firs Neue Bold"/>
              </a:rPr>
              <a:t>Mobile_Sales_Data</a:t>
            </a:r>
            <a:r>
              <a:rPr lang="en-IN" sz="3400" b="1" u="sng" dirty="0">
                <a:solidFill>
                  <a:srgbClr val="799F8F"/>
                </a:solidFill>
                <a:latin typeface="TT Firs Neue Bold"/>
              </a:rPr>
              <a:t>[Price Per Unit])</a:t>
            </a:r>
          </a:p>
          <a:p>
            <a:pPr lvl="0">
              <a:spcBef>
                <a:spcPct val="0"/>
              </a:spcBef>
            </a:pPr>
            <a:endParaRPr lang="en-US" sz="3400" b="1" u="sng" dirty="0">
              <a:solidFill>
                <a:srgbClr val="799F8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88744" y="3051508"/>
            <a:ext cx="717926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1314" lvl="1"/>
            <a:r>
              <a:rPr lang="en-IN" sz="4000" dirty="0">
                <a:latin typeface="TT Firs Neue" panose="020B0604020202020204" charset="0"/>
              </a:rPr>
              <a:t>Other Measures</a:t>
            </a:r>
            <a:endParaRPr lang="en-US" sz="4000" dirty="0">
              <a:solidFill>
                <a:srgbClr val="0E1916"/>
              </a:solidFill>
              <a:latin typeface="TT Firs Neue" panose="020B0604020202020204" charset="0"/>
              <a:ea typeface="TT Firs Neue"/>
              <a:cs typeface="TT Firs Neue"/>
              <a:sym typeface="TT Firs Neu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97530" y="5836034"/>
            <a:ext cx="7179262" cy="480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 dirty="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Month to Day: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7530" y="2781300"/>
            <a:ext cx="7179262" cy="480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3439" dirty="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Total Sales :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367738" y="9533187"/>
            <a:ext cx="418610" cy="4186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34695" y="9533187"/>
            <a:ext cx="418610" cy="4186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01652" y="9533187"/>
            <a:ext cx="418610" cy="41861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6" name="TextBox 10">
            <a:extLst>
              <a:ext uri="{FF2B5EF4-FFF2-40B4-BE49-F238E27FC236}">
                <a16:creationId xmlns:a16="http://schemas.microsoft.com/office/drawing/2014/main" id="{795F54F3-8134-2E6C-D1FA-DC648B31FD1E}"/>
              </a:ext>
            </a:extLst>
          </p:cNvPr>
          <p:cNvSpPr txBox="1"/>
          <p:nvPr/>
        </p:nvSpPr>
        <p:spPr>
          <a:xfrm>
            <a:off x="2524597" y="6610669"/>
            <a:ext cx="5843141" cy="1569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IN" sz="3400" b="1" u="sng" dirty="0">
                <a:solidFill>
                  <a:srgbClr val="799F8F"/>
                </a:solidFill>
                <a:latin typeface="TT Firs Neue Bold"/>
              </a:rPr>
              <a:t>MTD = TOTALMTD( [</a:t>
            </a:r>
            <a:r>
              <a:rPr lang="en-IN" sz="3400" b="1" u="sng" dirty="0" err="1">
                <a:solidFill>
                  <a:srgbClr val="799F8F"/>
                </a:solidFill>
                <a:latin typeface="TT Firs Neue Bold"/>
              </a:rPr>
              <a:t>Total_Sales</a:t>
            </a:r>
            <a:r>
              <a:rPr lang="en-IN" sz="3400" b="1" u="sng" dirty="0">
                <a:solidFill>
                  <a:srgbClr val="799F8F"/>
                </a:solidFill>
                <a:latin typeface="TT Firs Neue Bold"/>
              </a:rPr>
              <a:t>], </a:t>
            </a:r>
            <a:r>
              <a:rPr lang="en-IN" sz="3400" b="1" u="sng" dirty="0" err="1">
                <a:solidFill>
                  <a:srgbClr val="799F8F"/>
                </a:solidFill>
                <a:latin typeface="TT Firs Neue Bold"/>
              </a:rPr>
              <a:t>Custom_Calendar</a:t>
            </a:r>
            <a:r>
              <a:rPr lang="en-IN" sz="3400" b="1" u="sng" dirty="0">
                <a:solidFill>
                  <a:srgbClr val="799F8F"/>
                </a:solidFill>
                <a:latin typeface="TT Firs Neue Bold"/>
              </a:rPr>
              <a:t>[Date] )</a:t>
            </a:r>
            <a:endParaRPr lang="en-US" sz="3400" b="1" u="sng" dirty="0">
              <a:solidFill>
                <a:srgbClr val="799F8F"/>
              </a:solidFill>
              <a:latin typeface="TT Firs Neue Bold"/>
              <a:sym typeface="TT Firs Neue Bol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4093BF-0431-4B6B-CD15-22C1519C7084}"/>
              </a:ext>
            </a:extLst>
          </p:cNvPr>
          <p:cNvSpPr txBox="1"/>
          <p:nvPr/>
        </p:nvSpPr>
        <p:spPr>
          <a:xfrm>
            <a:off x="10480890" y="4357087"/>
            <a:ext cx="9144000" cy="2209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Total Quantity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Transactions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Average Price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Same Period Last 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04800" y="76524"/>
            <a:ext cx="14287500" cy="1118931"/>
            <a:chOff x="0" y="0"/>
            <a:chExt cx="20764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4801" y="1386445"/>
            <a:ext cx="17678400" cy="8405255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39316" y="412548"/>
            <a:ext cx="11124084" cy="782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DASHBOARD COMPONENTS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367738" y="9906490"/>
            <a:ext cx="418610" cy="41861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34695" y="9906490"/>
            <a:ext cx="418610" cy="4186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01652" y="9906490"/>
            <a:ext cx="418610" cy="4186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5C48FDF0-CC30-35BB-219B-94F635625B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44080"/>
            <a:ext cx="16992600" cy="81714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90501"/>
            <a:ext cx="16192500" cy="3306454"/>
            <a:chOff x="0" y="0"/>
            <a:chExt cx="20764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664556"/>
            <a:ext cx="16169324" cy="6508144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47800" y="266700"/>
            <a:ext cx="6254706" cy="78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MTD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36676" y="321469"/>
            <a:ext cx="7234620" cy="317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IN" sz="3439" b="1" dirty="0">
                <a:solidFill>
                  <a:srgbClr val="0E1916"/>
                </a:solidFill>
                <a:latin typeface="TT Firs Neue"/>
              </a:rPr>
              <a:t>Purpose: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Monitor sales progress during the month.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Understand daily cumulative performance.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Identify sales growth patterns.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2585" y="1830276"/>
            <a:ext cx="7716317" cy="158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439" dirty="0">
                <a:solidFill>
                  <a:srgbClr val="0E1916"/>
                </a:solidFill>
                <a:latin typeface="TT Firs Neue"/>
              </a:rPr>
              <a:t>MTD measures the cumulative sales from the beginning of the selected month up to the current date.</a:t>
            </a:r>
            <a:endParaRPr lang="en-US" sz="3439" dirty="0">
              <a:solidFill>
                <a:srgbClr val="0E1916"/>
              </a:solidFill>
              <a:latin typeface="TT Firs Neue"/>
              <a:sym typeface="TT Firs Ne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74624" y="1133427"/>
            <a:ext cx="7179262" cy="529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439" dirty="0">
                <a:solidFill>
                  <a:srgbClr val="0E1916"/>
                </a:solidFill>
                <a:latin typeface="TT Firs Neue"/>
              </a:rPr>
              <a:t>Month-to-Date Analysis</a:t>
            </a:r>
            <a:r>
              <a:rPr lang="en-US" sz="3439" dirty="0">
                <a:solidFill>
                  <a:srgbClr val="0E1916"/>
                </a:solidFill>
                <a:latin typeface="TT Firs Neue"/>
                <a:sym typeface="TT Firs Neue"/>
              </a:rPr>
              <a:t> </a:t>
            </a:r>
            <a:r>
              <a:rPr lang="en-US" sz="3439" dirty="0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: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367738" y="9533187"/>
            <a:ext cx="418610" cy="4186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34695" y="9533187"/>
            <a:ext cx="418610" cy="41861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01652" y="9533187"/>
            <a:ext cx="418610" cy="41861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1089306F-DF05-C940-F9BD-2EDF07E29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50357"/>
            <a:ext cx="15544799" cy="63461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0CBB-0825-3CB8-CC03-04CD64748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535299-4CCB-77B2-4034-5093F17F377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C52BE35-2291-E446-00D9-E190B5200945}"/>
              </a:ext>
            </a:extLst>
          </p:cNvPr>
          <p:cNvGrpSpPr/>
          <p:nvPr/>
        </p:nvGrpSpPr>
        <p:grpSpPr>
          <a:xfrm>
            <a:off x="1028700" y="190500"/>
            <a:ext cx="16192500" cy="3941757"/>
            <a:chOff x="0" y="0"/>
            <a:chExt cx="2076435" cy="21674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2109B24-11CC-DC1A-6390-744FE86FA337}"/>
                </a:ext>
              </a:extLst>
            </p:cNvPr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723B6D2-1C46-6966-6281-4B90520825D8}"/>
                </a:ext>
              </a:extLst>
            </p:cNvPr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7A8B82D-F8B2-4BFB-7F91-184403F94B01}"/>
              </a:ext>
            </a:extLst>
          </p:cNvPr>
          <p:cNvGrpSpPr/>
          <p:nvPr/>
        </p:nvGrpSpPr>
        <p:grpSpPr>
          <a:xfrm>
            <a:off x="1028700" y="4299859"/>
            <a:ext cx="16169324" cy="5872842"/>
            <a:chOff x="0" y="0"/>
            <a:chExt cx="2076435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B034706-B6A8-1D05-56ED-EDE9DF6CBEF5}"/>
                </a:ext>
              </a:extLst>
            </p:cNvPr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8E051CF-A334-93DF-3DE8-325D6C7918FD}"/>
                </a:ext>
              </a:extLst>
            </p:cNvPr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7AD1CB1-C444-C826-D4E2-2C9A5F3BAB17}"/>
              </a:ext>
            </a:extLst>
          </p:cNvPr>
          <p:cNvSpPr txBox="1"/>
          <p:nvPr/>
        </p:nvSpPr>
        <p:spPr>
          <a:xfrm>
            <a:off x="1447799" y="266700"/>
            <a:ext cx="7179261" cy="1539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SAME PERIOD LAST YEAR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3969147-925F-89E0-43F2-1B8F1A3B9E07}"/>
              </a:ext>
            </a:extLst>
          </p:cNvPr>
          <p:cNvSpPr txBox="1"/>
          <p:nvPr/>
        </p:nvSpPr>
        <p:spPr>
          <a:xfrm>
            <a:off x="9229260" y="341219"/>
            <a:ext cx="7716317" cy="379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IN" sz="4000" b="1" dirty="0">
                <a:solidFill>
                  <a:srgbClr val="0E1916"/>
                </a:solidFill>
                <a:latin typeface="TT Firs Neue"/>
              </a:rPr>
              <a:t>Benefits: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Compare current and previous-year performance.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 err="1">
                <a:solidFill>
                  <a:srgbClr val="0E1916"/>
                </a:solidFill>
                <a:latin typeface="TT Firs Neue"/>
              </a:rPr>
              <a:t>Analyze</a:t>
            </a:r>
            <a:r>
              <a:rPr lang="en-IN" sz="3439" dirty="0">
                <a:solidFill>
                  <a:srgbClr val="0E1916"/>
                </a:solidFill>
                <a:latin typeface="TT Firs Neue"/>
              </a:rPr>
              <a:t> changes in daily/monthly sales.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Understand year-over-year trends.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Support historical sales analysis.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7A6C8B-B227-401D-3919-32FC24F54DD3}"/>
              </a:ext>
            </a:extLst>
          </p:cNvPr>
          <p:cNvSpPr txBox="1"/>
          <p:nvPr/>
        </p:nvSpPr>
        <p:spPr>
          <a:xfrm>
            <a:off x="1482585" y="1830276"/>
            <a:ext cx="7716317" cy="2116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439" dirty="0">
                <a:solidFill>
                  <a:srgbClr val="0E1916"/>
                </a:solidFill>
                <a:latin typeface="TT Firs Neue"/>
              </a:rPr>
              <a:t>The Same Period Last Year (SPLY) measure compares sales with the corresponding period from the previous year.</a:t>
            </a:r>
            <a:endParaRPr lang="en-US" sz="3439" dirty="0">
              <a:solidFill>
                <a:srgbClr val="0E1916"/>
              </a:solidFill>
              <a:latin typeface="TT Firs Neue"/>
              <a:sym typeface="TT Firs Neue"/>
            </a:endParaRP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1FF0673-C195-E030-1F92-25A0B986A24C}"/>
              </a:ext>
            </a:extLst>
          </p:cNvPr>
          <p:cNvGrpSpPr/>
          <p:nvPr/>
        </p:nvGrpSpPr>
        <p:grpSpPr>
          <a:xfrm>
            <a:off x="8367738" y="9533187"/>
            <a:ext cx="418610" cy="418610"/>
            <a:chOff x="0" y="0"/>
            <a:chExt cx="812800" cy="812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30F7E58-7DD1-D7F8-B12B-ADD2FDB4B48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DDAB52B-6827-D972-A838-0CFFE30749AD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049BE2D-4F1C-BBF2-0442-C8D00DC15CE6}"/>
              </a:ext>
            </a:extLst>
          </p:cNvPr>
          <p:cNvGrpSpPr/>
          <p:nvPr/>
        </p:nvGrpSpPr>
        <p:grpSpPr>
          <a:xfrm>
            <a:off x="8934695" y="9533187"/>
            <a:ext cx="418610" cy="418610"/>
            <a:chOff x="0" y="0"/>
            <a:chExt cx="812800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1209754-2AE2-80E3-F945-F6F22105CD4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1FFE245-6206-3CFB-1CD5-1190230BCEC6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87DD6C9-7336-7F49-112E-352B17348D1E}"/>
              </a:ext>
            </a:extLst>
          </p:cNvPr>
          <p:cNvGrpSpPr/>
          <p:nvPr/>
        </p:nvGrpSpPr>
        <p:grpSpPr>
          <a:xfrm>
            <a:off x="9501652" y="9533187"/>
            <a:ext cx="418610" cy="418610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1070372-95F0-D02B-07E6-BB10E670B4A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A87A57C8-2C71-3C29-88F4-1B42827C5200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82C710E-741E-DC8A-4879-812343810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423" y="4377284"/>
            <a:ext cx="15603154" cy="57166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98406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7883963" cy="8229600"/>
            <a:chOff x="0" y="0"/>
            <a:chExt cx="20764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75337" y="1028700"/>
            <a:ext cx="7883963" cy="8229600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97530" y="1728732"/>
            <a:ext cx="6254706" cy="78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KEY </a:t>
            </a: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INSIGHT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5748" y="3596708"/>
            <a:ext cx="6586488" cy="471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Total sales can be monitored through KPI cards.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Daily and monthly sales patterns can be </a:t>
            </a:r>
            <a:r>
              <a:rPr lang="en-IN" sz="3439" dirty="0" err="1">
                <a:solidFill>
                  <a:srgbClr val="0E1916"/>
                </a:solidFill>
                <a:latin typeface="TT Firs Neue"/>
              </a:rPr>
              <a:t>analyzed</a:t>
            </a:r>
            <a:r>
              <a:rPr lang="en-IN" sz="3439" dirty="0">
                <a:solidFill>
                  <a:srgbClr val="0E1916"/>
                </a:solidFill>
                <a:latin typeface="TT Firs Neue"/>
              </a:rPr>
              <a:t> using time-based visuals.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City-wise sales distribution can be explored using the map.</a:t>
            </a:r>
          </a:p>
          <a:p>
            <a:pPr algn="l">
              <a:lnSpc>
                <a:spcPts val="3646"/>
              </a:lnSpc>
            </a:pPr>
            <a:endParaRPr lang="en-US" sz="3439" dirty="0">
              <a:solidFill>
                <a:srgbClr val="0E1916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8367738" y="9533187"/>
            <a:ext cx="418610" cy="41861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34695" y="9533187"/>
            <a:ext cx="418610" cy="41861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01652" y="9533187"/>
            <a:ext cx="418610" cy="41861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F7C97A6-C3B4-2AE3-7011-58CCD61CD6F0}"/>
              </a:ext>
            </a:extLst>
          </p:cNvPr>
          <p:cNvSpPr txBox="1"/>
          <p:nvPr/>
        </p:nvSpPr>
        <p:spPr>
          <a:xfrm>
            <a:off x="9540897" y="3279108"/>
            <a:ext cx="7381355" cy="379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MTD provides a cumulative view of monthly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Previous-year comparison provides historical context.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Interactive slicers allow users to </a:t>
            </a:r>
            <a:r>
              <a:rPr lang="en-IN" sz="3440" dirty="0" err="1">
                <a:latin typeface="TT Firs Neue" panose="020B0604020202020204" charset="0"/>
              </a:rPr>
              <a:t>analyze</a:t>
            </a:r>
            <a:r>
              <a:rPr lang="en-IN" sz="3440" dirty="0">
                <a:latin typeface="TT Firs Neue" panose="020B0604020202020204" charset="0"/>
              </a:rPr>
              <a:t> specific business segments.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7883963" cy="8229600"/>
            <a:chOff x="0" y="0"/>
            <a:chExt cx="2076435" cy="18162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6435" cy="1816257"/>
            </a:xfrm>
            <a:custGeom>
              <a:avLst/>
              <a:gdLst/>
              <a:ahLst/>
              <a:cxnLst/>
              <a:rect l="l" t="t" r="r" b="b"/>
              <a:pathLst>
                <a:path w="2076435" h="181625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1796617"/>
                  </a:lnTo>
                  <a:cubicBezTo>
                    <a:pt x="2076435" y="1801826"/>
                    <a:pt x="2074365" y="1806821"/>
                    <a:pt x="2070682" y="1810504"/>
                  </a:cubicBezTo>
                  <a:cubicBezTo>
                    <a:pt x="2066999" y="1814188"/>
                    <a:pt x="2062004" y="1816257"/>
                    <a:pt x="2056795" y="1816257"/>
                  </a:cubicBezTo>
                  <a:lnTo>
                    <a:pt x="19640" y="1816257"/>
                  </a:lnTo>
                  <a:cubicBezTo>
                    <a:pt x="14431" y="1816257"/>
                    <a:pt x="9435" y="1814188"/>
                    <a:pt x="5752" y="1810504"/>
                  </a:cubicBezTo>
                  <a:cubicBezTo>
                    <a:pt x="2069" y="1806821"/>
                    <a:pt x="0" y="1801826"/>
                    <a:pt x="0" y="179661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2076435" cy="1787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75337" y="1028700"/>
            <a:ext cx="7883963" cy="8229600"/>
            <a:chOff x="0" y="0"/>
            <a:chExt cx="2076435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435" cy="2167467"/>
            </a:xfrm>
            <a:custGeom>
              <a:avLst/>
              <a:gdLst/>
              <a:ahLst/>
              <a:cxnLst/>
              <a:rect l="l" t="t" r="r" b="b"/>
              <a:pathLst>
                <a:path w="2076435" h="2167467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97530" y="1356205"/>
            <a:ext cx="6254706" cy="78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5748" y="2628900"/>
            <a:ext cx="6586488" cy="509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629" lvl="1" indent="-371315">
              <a:lnSpc>
                <a:spcPts val="3646"/>
              </a:lnSpc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The Mobile Sales Dashboard transforms raw transaction data into an interactive BI solution. </a:t>
            </a:r>
          </a:p>
          <a:p>
            <a:pPr marL="742629" lvl="1" indent="-371315">
              <a:lnSpc>
                <a:spcPts val="3646"/>
              </a:lnSpc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It provides a centralized view of important sales KPIs. </a:t>
            </a:r>
          </a:p>
          <a:p>
            <a:pPr marL="742629" lvl="1" indent="-371315">
              <a:lnSpc>
                <a:spcPts val="3646"/>
              </a:lnSpc>
              <a:buFont typeface="Arial"/>
              <a:buChar char="•"/>
            </a:pPr>
            <a:r>
              <a:rPr lang="en-IN" sz="3439" dirty="0">
                <a:solidFill>
                  <a:srgbClr val="0E1916"/>
                </a:solidFill>
                <a:latin typeface="TT Firs Neue"/>
              </a:rPr>
              <a:t>DAX and a custom calendar table enable advanced time-based analysis.</a:t>
            </a:r>
          </a:p>
          <a:p>
            <a:pPr algn="l">
              <a:lnSpc>
                <a:spcPts val="3646"/>
              </a:lnSpc>
              <a:spcBef>
                <a:spcPct val="0"/>
              </a:spcBef>
            </a:pPr>
            <a:endParaRPr lang="en-US" sz="3439" dirty="0">
              <a:solidFill>
                <a:srgbClr val="0E1916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6359091" y="9533187"/>
            <a:ext cx="418610" cy="4186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926049" y="9533187"/>
            <a:ext cx="418610" cy="41861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93006" y="9533187"/>
            <a:ext cx="418610" cy="41861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0142A04-AD5D-14C2-4053-077D6CA42FBB}"/>
              </a:ext>
            </a:extLst>
          </p:cNvPr>
          <p:cNvSpPr txBox="1"/>
          <p:nvPr/>
        </p:nvSpPr>
        <p:spPr>
          <a:xfrm>
            <a:off x="9941363" y="3238500"/>
            <a:ext cx="6797094" cy="379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Interactive filters make it easier to explore sales from different perspectives.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440" dirty="0">
                <a:latin typeface="TT Firs Neue" panose="020B0604020202020204" charset="0"/>
              </a:rPr>
              <a:t>The dashboard can help users understand sales performance and historical trends.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A7BB-A89B-8700-05C7-9311A6D4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ECFC8A-7CDE-BFC8-1462-1D8E15729AD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BAEBEC2-4633-23CD-6A42-785E0B8C3924}"/>
              </a:ext>
            </a:extLst>
          </p:cNvPr>
          <p:cNvGrpSpPr/>
          <p:nvPr/>
        </p:nvGrpSpPr>
        <p:grpSpPr>
          <a:xfrm>
            <a:off x="15724554" y="1008071"/>
            <a:ext cx="418610" cy="41861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2A8ADF0-81EB-C018-ABC9-822F48E5900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990FF0E-5824-362A-57B9-9CA88B63F569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A688AC1-3237-0896-1D94-E4AC6DC48E8C}"/>
              </a:ext>
            </a:extLst>
          </p:cNvPr>
          <p:cNvGrpSpPr/>
          <p:nvPr/>
        </p:nvGrpSpPr>
        <p:grpSpPr>
          <a:xfrm>
            <a:off x="16291511" y="1008071"/>
            <a:ext cx="418610" cy="418610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CD6775C-2CC7-2187-B6DA-958C91AA96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8B93373-814C-C907-2810-249B99D23C40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E214177-3DF7-A9EA-A955-AC8508E2C9B0}"/>
              </a:ext>
            </a:extLst>
          </p:cNvPr>
          <p:cNvGrpSpPr/>
          <p:nvPr/>
        </p:nvGrpSpPr>
        <p:grpSpPr>
          <a:xfrm>
            <a:off x="16858469" y="1008071"/>
            <a:ext cx="418610" cy="41861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685511E-C7EC-DA7C-E0F5-6875825F6FB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F24409A-6DA9-1E17-1E55-908AEB7A0AE2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7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B53EFFB7-C03B-00DF-EFF8-1566112CC843}"/>
              </a:ext>
            </a:extLst>
          </p:cNvPr>
          <p:cNvSpPr/>
          <p:nvPr/>
        </p:nvSpPr>
        <p:spPr>
          <a:xfrm>
            <a:off x="15566408" y="7565408"/>
            <a:ext cx="1692892" cy="1692892"/>
          </a:xfrm>
          <a:custGeom>
            <a:avLst/>
            <a:gdLst/>
            <a:ahLst/>
            <a:cxnLst/>
            <a:rect l="l" t="t" r="r" b="b"/>
            <a:pathLst>
              <a:path w="1692892" h="1692892">
                <a:moveTo>
                  <a:pt x="0" y="0"/>
                </a:moveTo>
                <a:lnTo>
                  <a:pt x="1692892" y="0"/>
                </a:lnTo>
                <a:lnTo>
                  <a:pt x="1692892" y="1692892"/>
                </a:lnTo>
                <a:lnTo>
                  <a:pt x="0" y="1692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FA08DD1-F4B2-97D0-669E-5945BC46E1FE}"/>
              </a:ext>
            </a:extLst>
          </p:cNvPr>
          <p:cNvSpPr txBox="1"/>
          <p:nvPr/>
        </p:nvSpPr>
        <p:spPr>
          <a:xfrm>
            <a:off x="1042534" y="3812687"/>
            <a:ext cx="16195301" cy="2661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70"/>
              </a:lnSpc>
            </a:pPr>
            <a:r>
              <a:rPr lang="en-US" sz="18934" b="1" dirty="0">
                <a:solidFill>
                  <a:srgbClr val="FFDE59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3713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527</Words>
  <Application>Microsoft Office PowerPoint</Application>
  <PresentationFormat>Custom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TT Firs Neue Bold</vt:lpstr>
      <vt:lpstr>TT Firs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Amit Kumar</cp:lastModifiedBy>
  <cp:revision>5</cp:revision>
  <dcterms:created xsi:type="dcterms:W3CDTF">2006-08-16T00:00:00Z</dcterms:created>
  <dcterms:modified xsi:type="dcterms:W3CDTF">2026-09-17T09:50:44Z</dcterms:modified>
  <dc:identifier>DAHVPsS4JLQ</dc:identifier>
</cp:coreProperties>
</file>